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Salesforce Process Mapping &amp; Documentation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Week 1 | Process Audit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300"/>
            </a:pPr>
            <a:r>
              <a:t>Three processes: Lead Management, Opportunity Tracking, Case Resolution</a:t>
            </a:r>
          </a:p>
          <a:p>
            <a:pPr>
              <a:spcAft>
                <a:spcPts val="1300"/>
              </a:spcAft>
              <a:defRPr sz="2300"/>
            </a:pPr>
            <a:r>
              <a:t>Focus: current-state mapping, risks, recommendations and measurable outcomes</a:t>
            </a:r>
          </a:p>
          <a:p>
            <a:pPr>
              <a:spcAft>
                <a:spcPts val="1300"/>
              </a:spcAft>
              <a:defRPr sz="2300"/>
            </a:pPr>
            <a:r>
              <a:t>Training simulation — validate all assumptions against the target Salesforce org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Scope &amp;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/>
            </a:pPr>
            <a:r>
              <a:t>Map triggers, inputs, activities, decisions, outputs and exception paths</a:t>
            </a:r>
          </a:p>
          <a:p>
            <a:pPr>
              <a:spcAft>
                <a:spcPts val="1300"/>
              </a:spcAft>
              <a:defRPr sz="2200"/>
            </a:pPr>
            <a:r>
              <a:t>Review data quality, ownership, automation, reporting and governance</a:t>
            </a:r>
          </a:p>
          <a:p>
            <a:pPr>
              <a:spcAft>
                <a:spcPts val="1300"/>
              </a:spcAft>
              <a:defRPr sz="2200"/>
            </a:pPr>
            <a:r>
              <a:t>Prioritize improvements by impact and feasibility</a:t>
            </a:r>
          </a:p>
          <a:p>
            <a:pPr>
              <a:spcAft>
                <a:spcPts val="1300"/>
              </a:spcAft>
              <a:defRPr sz="2200"/>
            </a:pPr>
            <a:r>
              <a:t>No live Salesforce org or operational dataset was accessed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Lead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Capture and validate leads; check duplicates and consent</a:t>
            </a:r>
          </a:p>
          <a:p>
            <a:pPr>
              <a:spcAft>
                <a:spcPts val="1300"/>
              </a:spcAft>
              <a:defRPr sz="2100"/>
            </a:pPr>
            <a:r>
              <a:t>Assign by rules/queues; qualify consistently</a:t>
            </a:r>
          </a:p>
          <a:p>
            <a:pPr>
              <a:spcAft>
                <a:spcPts val="1300"/>
              </a:spcAft>
              <a:defRPr sz="2100"/>
            </a:pPr>
            <a:r>
              <a:t>Convert sales-ready leads; nurture or disqualify others</a:t>
            </a:r>
          </a:p>
          <a:p>
            <a:pPr>
              <a:spcAft>
                <a:spcPts val="1300"/>
              </a:spcAft>
              <a:defRPr sz="2100"/>
            </a:pPr>
            <a:r>
              <a:t>Priority fixes: data validation, assignment, next-step reminders</a:t>
            </a:r>
          </a:p>
        </p:txBody>
      </p:sp>
      <p:pic>
        <p:nvPicPr>
          <p:cNvPr id="4" name="Picture 3" descr="lead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2120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Opportunity 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Qualify, discover, validate solution and commercial terms</a:t>
            </a:r>
          </a:p>
          <a:p>
            <a:pPr>
              <a:spcAft>
                <a:spcPts val="1300"/>
              </a:spcAft>
              <a:defRPr sz="2100"/>
            </a:pPr>
            <a:r>
              <a:t>Use stage exit criteria and approval history</a:t>
            </a:r>
          </a:p>
          <a:p>
            <a:pPr>
              <a:spcAft>
                <a:spcPts val="1300"/>
              </a:spcAft>
              <a:defRPr sz="2100"/>
            </a:pPr>
            <a:r>
              <a:t>Close won/lost and capture reason; hand off won deals</a:t>
            </a:r>
          </a:p>
          <a:p>
            <a:pPr>
              <a:spcAft>
                <a:spcPts val="1300"/>
              </a:spcAft>
              <a:defRPr sz="2100"/>
            </a:pPr>
            <a:r>
              <a:t>Priority fixes: stale-deal alerts, close-date monitoring, forecast hygiene</a:t>
            </a:r>
          </a:p>
        </p:txBody>
      </p:sp>
      <p:pic>
        <p:nvPicPr>
          <p:cNvPr id="4" name="Picture 3" descr="opportunity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2120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Case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Capture issue, classify priority and route to an agent/queue</a:t>
            </a:r>
          </a:p>
          <a:p>
            <a:pPr>
              <a:spcAft>
                <a:spcPts val="1300"/>
              </a:spcAft>
              <a:defRPr sz="2100"/>
            </a:pPr>
            <a:r>
              <a:t>Use knowledge and escalation paths; monitor response/resolution SLA</a:t>
            </a:r>
          </a:p>
          <a:p>
            <a:pPr>
              <a:spcAft>
                <a:spcPts val="1300"/>
              </a:spcAft>
              <a:defRPr sz="2100"/>
            </a:pPr>
            <a:r>
              <a:t>Document solution, close and monitor reopen/customer feedback</a:t>
            </a:r>
          </a:p>
          <a:p>
            <a:pPr>
              <a:spcAft>
                <a:spcPts val="1300"/>
              </a:spcAft>
              <a:defRPr sz="2100"/>
            </a:pPr>
            <a:r>
              <a:t>Priority fixes: guided intake, routing, SLA alerts, closure validation</a:t>
            </a:r>
          </a:p>
        </p:txBody>
      </p:sp>
      <p:pic>
        <p:nvPicPr>
          <p:cNvPr id="4" name="Picture 3" descr="cas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2120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Cross-Process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Data quality: duplicates, missing fields and inconsistent picklists undermine trust</a:t>
            </a:r>
          </a:p>
          <a:p>
            <a:pPr>
              <a:spcAft>
                <a:spcPts val="1300"/>
              </a:spcAft>
              <a:defRPr sz="2000"/>
            </a:pPr>
            <a:r>
              <a:t>Ownership: unassigned/stale records delay response and follow-up</a:t>
            </a:r>
          </a:p>
          <a:p>
            <a:pPr>
              <a:spcAft>
                <a:spcPts val="1300"/>
              </a:spcAft>
              <a:defRPr sz="2000"/>
            </a:pPr>
            <a:r>
              <a:t>Automation: prioritize repeatable rules; test exception paths and alert on failures</a:t>
            </a:r>
          </a:p>
          <a:p>
            <a:pPr>
              <a:spcAft>
                <a:spcPts val="1300"/>
              </a:spcAft>
              <a:defRPr sz="2000"/>
            </a:pPr>
            <a:r>
              <a:t>Governance: sandbox, UAT, release notes, rollback and named process owners</a:t>
            </a:r>
          </a:p>
          <a:p>
            <a:pPr>
              <a:spcAft>
                <a:spcPts val="1300"/>
              </a:spcAft>
              <a:defRPr sz="2000"/>
            </a:pPr>
            <a:r>
              <a:t>Adoption: role-based training and clear guidance reduce workarounds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Recommended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Week 1: validate maps, stakeholders and baseline KPIs</a:t>
            </a:r>
          </a:p>
          <a:p>
            <a:pPr>
              <a:spcAft>
                <a:spcPts val="1300"/>
              </a:spcAft>
              <a:defRPr sz="2100"/>
            </a:pPr>
            <a:r>
              <a:t>Weeks 2–3: quick wins — validation, duplicates, ownership fallbacks, alerts</a:t>
            </a:r>
          </a:p>
          <a:p>
            <a:pPr>
              <a:spcAft>
                <a:spcPts val="1300"/>
              </a:spcAft>
              <a:defRPr sz="2100"/>
            </a:pPr>
            <a:r>
              <a:t>Weeks 4–6: stage guidance, approvals, case routing and SLA escalation</a:t>
            </a:r>
          </a:p>
          <a:p>
            <a:pPr>
              <a:spcAft>
                <a:spcPts val="1300"/>
              </a:spcAft>
              <a:defRPr sz="2100"/>
            </a:pPr>
            <a:r>
              <a:t>Weeks 7–8: pilot, resolve defects and review adoption</a:t>
            </a:r>
          </a:p>
          <a:p>
            <a:pPr>
              <a:spcAft>
                <a:spcPts val="1300"/>
              </a:spcAft>
              <a:defRPr sz="2100"/>
            </a:pPr>
            <a:r>
              <a:t>Ongoing: monthly KPI review and quarterly process audit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KPIs &amp;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Leads: first-response time, lead-to-opportunity conversion, duplicate rate</a:t>
            </a:r>
          </a:p>
          <a:p>
            <a:pPr>
              <a:spcAft>
                <a:spcPts val="1300"/>
              </a:spcAft>
              <a:defRPr sz="2000"/>
            </a:pPr>
            <a:r>
              <a:t>Opportunities: stage conversion, forecast accuracy, stale-deal rate</a:t>
            </a:r>
          </a:p>
          <a:p>
            <a:pPr>
              <a:spcAft>
                <a:spcPts val="1300"/>
              </a:spcAft>
              <a:defRPr sz="2000"/>
            </a:pPr>
            <a:r>
              <a:t>Cases: first response, first-contact resolution, SLA attainment, reopen rate</a:t>
            </a:r>
          </a:p>
          <a:p>
            <a:pPr>
              <a:spcAft>
                <a:spcPts val="1300"/>
              </a:spcAft>
              <a:defRPr sz="2000"/>
            </a:pPr>
            <a:r>
              <a:t>Controls: least privilege, validation, approval trails, fallback queues, test evidence</a:t>
            </a:r>
          </a:p>
          <a:p>
            <a:pPr>
              <a:spcAft>
                <a:spcPts val="1300"/>
              </a:spcAft>
              <a:defRPr sz="2000"/>
            </a:pPr>
            <a:r>
              <a:t>Set targets after baseline measurement; agree metric definitions first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Conclusion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/>
            </a:pPr>
            <a:r>
              <a:t>The biggest opportunities are data quality, clear ownership and consistent decision criteria</a:t>
            </a:r>
          </a:p>
          <a:p>
            <a:pPr>
              <a:spcAft>
                <a:spcPts val="1300"/>
              </a:spcAft>
              <a:defRPr sz="2200"/>
            </a:pPr>
            <a:r>
              <a:t>Validate representative workflows with Sales, Marketing, Support and platform owners</a:t>
            </a:r>
          </a:p>
          <a:p>
            <a:pPr>
              <a:spcAft>
                <a:spcPts val="1300"/>
              </a:spcAft>
              <a:defRPr sz="2200"/>
            </a:pPr>
            <a:r>
              <a:t>Pilot prioritized changes in a sandbox; test happy paths and exceptions</a:t>
            </a:r>
          </a:p>
          <a:p>
            <a:pPr>
              <a:spcAft>
                <a:spcPts val="1300"/>
              </a:spcAft>
              <a:defRPr sz="2200"/>
            </a:pPr>
            <a:r>
              <a:t>Track KPI trends and adjust through documented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